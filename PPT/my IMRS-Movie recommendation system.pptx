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8" r:id="rId6"/>
    <p:sldId id="286" r:id="rId7"/>
    <p:sldId id="257" r:id="rId8"/>
    <p:sldId id="287" r:id="rId9"/>
    <p:sldId id="288" r:id="rId10"/>
    <p:sldId id="289" r:id="rId11"/>
    <p:sldId id="260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B7C6"/>
    <a:srgbClr val="103350"/>
    <a:srgbClr val="0C4360"/>
    <a:srgbClr val="1B6872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3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5/4/2026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2395727"/>
            <a:ext cx="7502858" cy="2654067"/>
          </a:xfrm>
        </p:spPr>
        <p:txBody>
          <a:bodyPr/>
          <a:lstStyle/>
          <a:p>
            <a:r>
              <a:rPr lang="en-IN" dirty="0" smtClean="0"/>
              <a:t>IMRS-Movie recommendation system</a:t>
            </a:r>
            <a:r>
              <a:rPr lang="en-IN" b="0" dirty="0"/>
              <a:t/>
            </a:r>
            <a:br>
              <a:rPr lang="en-IN" b="0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7" y="5247502"/>
            <a:ext cx="5698771" cy="10873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BT24F05F002 </a:t>
            </a:r>
            <a:r>
              <a:rPr lang="en-US" dirty="0" smtClean="0"/>
              <a:t>- </a:t>
            </a:r>
            <a:r>
              <a:rPr lang="en-US" dirty="0" smtClean="0"/>
              <a:t>Aditya </a:t>
            </a:r>
            <a:r>
              <a:rPr lang="en-US" dirty="0" err="1" smtClean="0"/>
              <a:t>Khamkar</a:t>
            </a:r>
            <a:endParaRPr lang="en-US" dirty="0" smtClean="0"/>
          </a:p>
          <a:p>
            <a:r>
              <a:rPr lang="en-US" dirty="0" smtClean="0"/>
              <a:t>BT24F05F006 </a:t>
            </a:r>
            <a:r>
              <a:rPr lang="en-US" dirty="0"/>
              <a:t>- Chaitanya </a:t>
            </a:r>
            <a:r>
              <a:rPr lang="en-US" dirty="0" err="1" smtClean="0"/>
              <a:t>Bakhal</a:t>
            </a:r>
            <a:endParaRPr lang="en-US" dirty="0" smtClean="0"/>
          </a:p>
          <a:p>
            <a:r>
              <a:rPr lang="en-US" dirty="0" smtClean="0"/>
              <a:t>BT24F05F00  - </a:t>
            </a:r>
            <a:r>
              <a:rPr lang="en-US" dirty="0" err="1" smtClean="0"/>
              <a:t>Amaan</a:t>
            </a:r>
            <a:r>
              <a:rPr lang="en-US" dirty="0" smtClean="0"/>
              <a:t> </a:t>
            </a:r>
            <a:r>
              <a:rPr lang="en-US" dirty="0" err="1" smtClean="0"/>
              <a:t>Chaudhari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761487" y="4160108"/>
            <a:ext cx="8260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B0BEC5"/>
                </a:solidFill>
                <a:latin typeface="Calibri"/>
              </a:rPr>
              <a:t>A Content-Based ML System for Indian </a:t>
            </a:r>
            <a:r>
              <a:rPr lang="en-US" sz="2800" dirty="0" smtClean="0">
                <a:solidFill>
                  <a:srgbClr val="B0BEC5"/>
                </a:solidFill>
                <a:latin typeface="Calibri"/>
              </a:rPr>
              <a:t>Cinema</a:t>
            </a:r>
            <a:endParaRPr lang="en-US" sz="2800" dirty="0">
              <a:solidFill>
                <a:srgbClr val="B0BEC5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IN" dirty="0">
                <a:solidFill>
                  <a:srgbClr val="FFFFFF"/>
                </a:solidFill>
                <a:latin typeface="Calibri"/>
              </a:rPr>
              <a:t>Project </a:t>
            </a:r>
            <a:r>
              <a:rPr lang="en-IN" dirty="0" smtClean="0">
                <a:solidFill>
                  <a:srgbClr val="FFFFFF"/>
                </a:solidFill>
                <a:latin typeface="Calibri"/>
              </a:rPr>
              <a:t>Overview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sz="2200" dirty="0" smtClean="0">
                <a:solidFill>
                  <a:srgbClr val="FFFFFF"/>
                </a:solidFill>
                <a:latin typeface="Calibri"/>
              </a:rPr>
              <a:t>🎯</a:t>
            </a:r>
            <a:r>
              <a:rPr lang="en-US" sz="2200" dirty="0" smtClean="0"/>
              <a:t>  </a:t>
            </a:r>
            <a:r>
              <a:rPr lang="en-IN" sz="2200" b="1" dirty="0" smtClean="0">
                <a:solidFill>
                  <a:srgbClr val="FFC017"/>
                </a:solidFill>
                <a:latin typeface="Calibri"/>
              </a:rPr>
              <a:t>Problem</a:t>
            </a:r>
            <a:endParaRPr lang="en-US" sz="2200" dirty="0" smtClean="0"/>
          </a:p>
          <a:p>
            <a:pPr marL="0" indent="0">
              <a:buNone/>
            </a:pPr>
            <a:r>
              <a:rPr lang="en-US" dirty="0">
                <a:solidFill>
                  <a:srgbClr val="B0BEC5"/>
                </a:solidFill>
                <a:latin typeface="Calibri"/>
              </a:rPr>
              <a:t>Discovering good Indian movies is hard. Users need personalized recommendations beyond generic lists.</a:t>
            </a:r>
          </a:p>
          <a:p>
            <a:endParaRPr lang="en-US" dirty="0" smtClean="0">
              <a:solidFill>
                <a:srgbClr val="B0BEC5"/>
              </a:solidFill>
              <a:latin typeface="Calibri"/>
            </a:endParaRPr>
          </a:p>
          <a:p>
            <a:r>
              <a:rPr lang="en-IN" sz="2200" dirty="0" smtClean="0">
                <a:solidFill>
                  <a:srgbClr val="FFFFFF"/>
                </a:solidFill>
                <a:latin typeface="Calibri"/>
              </a:rPr>
              <a:t>💡  </a:t>
            </a:r>
            <a:r>
              <a:rPr lang="en-IN" sz="2200" b="1" dirty="0" smtClean="0">
                <a:solidFill>
                  <a:srgbClr val="FFC017"/>
                </a:solidFill>
                <a:latin typeface="Calibri"/>
              </a:rPr>
              <a:t>Solution</a:t>
            </a:r>
          </a:p>
          <a:p>
            <a:pPr marL="0" indent="0">
              <a:buNone/>
            </a:pPr>
            <a:r>
              <a:rPr lang="en-US" dirty="0">
                <a:solidFill>
                  <a:srgbClr val="B0BEC5"/>
                </a:solidFill>
                <a:latin typeface="Calibri"/>
              </a:rPr>
              <a:t>A smart ML-powered system that understands user taste and recommends similar Indian films instantly.</a:t>
            </a:r>
          </a:p>
          <a:p>
            <a:pPr marL="0" indent="0">
              <a:buNone/>
            </a:pPr>
            <a:endParaRPr lang="en-IN" b="1" dirty="0">
              <a:solidFill>
                <a:srgbClr val="FFC017"/>
              </a:solidFill>
              <a:latin typeface="Calibri"/>
            </a:endParaRPr>
          </a:p>
          <a:p>
            <a:r>
              <a:rPr lang="en-IN" sz="2200" dirty="0" smtClean="0">
                <a:solidFill>
                  <a:srgbClr val="FFFFFF"/>
                </a:solidFill>
                <a:latin typeface="Calibri"/>
              </a:rPr>
              <a:t>🎬  </a:t>
            </a:r>
            <a:r>
              <a:rPr lang="en-IN" sz="2200" b="1" dirty="0" smtClean="0">
                <a:solidFill>
                  <a:srgbClr val="FFC017"/>
                </a:solidFill>
                <a:latin typeface="Calibri"/>
              </a:rPr>
              <a:t>Impact</a:t>
            </a:r>
            <a:endParaRPr lang="en-IN" sz="2200" dirty="0">
              <a:solidFill>
                <a:srgbClr val="FFFFFF"/>
              </a:solidFill>
              <a:latin typeface="Calibri"/>
            </a:endParaRPr>
          </a:p>
          <a:p>
            <a:pPr marL="0" indent="0">
              <a:buNone/>
            </a:pPr>
            <a:r>
              <a:rPr lang="en-US" dirty="0">
                <a:solidFill>
                  <a:srgbClr val="B0BEC5"/>
                </a:solidFill>
                <a:latin typeface="Calibri"/>
              </a:rPr>
              <a:t>Supports both Bollywood and regional cinema, making Indian film discovery easy and personalized.</a:t>
            </a:r>
          </a:p>
          <a:p>
            <a:pPr marL="0" indent="0">
              <a:buNone/>
            </a:pPr>
            <a:endParaRPr lang="en-IN" dirty="0">
              <a:solidFill>
                <a:srgbClr val="FFFFFF"/>
              </a:solidFill>
              <a:latin typeface="Calibri"/>
            </a:endParaRPr>
          </a:p>
          <a:p>
            <a:endParaRPr lang="en-IN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IN" dirty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40476"/>
            <a:ext cx="6718300" cy="4250723"/>
          </a:xfrm>
        </p:spPr>
        <p:txBody>
          <a:bodyPr/>
          <a:lstStyle/>
          <a:p>
            <a:r>
              <a:rPr lang="en-IN" b="1" dirty="0">
                <a:solidFill>
                  <a:srgbClr val="FFC017"/>
                </a:solidFill>
                <a:latin typeface="Calibri"/>
              </a:rPr>
              <a:t>Content-Based </a:t>
            </a:r>
            <a:r>
              <a:rPr lang="en-IN" b="1" dirty="0" smtClean="0">
                <a:solidFill>
                  <a:srgbClr val="FFC017"/>
                </a:solidFill>
                <a:latin typeface="Calibri"/>
              </a:rPr>
              <a:t>Recommendations : </a:t>
            </a:r>
            <a:r>
              <a:rPr lang="en-US" dirty="0" smtClean="0">
                <a:solidFill>
                  <a:srgbClr val="B0BEC5"/>
                </a:solidFill>
                <a:latin typeface="Calibri"/>
              </a:rPr>
              <a:t>Uses </a:t>
            </a:r>
            <a:r>
              <a:rPr lang="en-US" dirty="0">
                <a:solidFill>
                  <a:srgbClr val="B0BEC5"/>
                </a:solidFill>
                <a:latin typeface="Calibri"/>
              </a:rPr>
              <a:t>TF-IDF vectorization and cosine similarity to match movies based on genre, director, and cast</a:t>
            </a:r>
            <a:r>
              <a:rPr lang="en-US" dirty="0" smtClean="0">
                <a:solidFill>
                  <a:srgbClr val="B0BEC5"/>
                </a:solidFill>
                <a:latin typeface="Calibri"/>
              </a:rPr>
              <a:t>.</a:t>
            </a:r>
          </a:p>
          <a:p>
            <a:pPr marL="0" indent="0">
              <a:buNone/>
            </a:pPr>
            <a:endParaRPr lang="en-US" dirty="0">
              <a:solidFill>
                <a:srgbClr val="B0BEC5"/>
              </a:solidFill>
              <a:latin typeface="Calibri"/>
            </a:endParaRPr>
          </a:p>
          <a:p>
            <a:r>
              <a:rPr lang="en-IN" b="1" dirty="0">
                <a:solidFill>
                  <a:srgbClr val="FFC017"/>
                </a:solidFill>
                <a:latin typeface="Calibri"/>
              </a:rPr>
              <a:t>Advanced </a:t>
            </a:r>
            <a:r>
              <a:rPr lang="en-IN" b="1" dirty="0" smtClean="0">
                <a:solidFill>
                  <a:srgbClr val="FFC017"/>
                </a:solidFill>
                <a:latin typeface="Calibri"/>
              </a:rPr>
              <a:t>Filtering : </a:t>
            </a:r>
            <a:r>
              <a:rPr lang="en-US" dirty="0" smtClean="0">
                <a:solidFill>
                  <a:srgbClr val="B0BEC5"/>
                </a:solidFill>
                <a:latin typeface="Calibri"/>
              </a:rPr>
              <a:t>Filter </a:t>
            </a:r>
            <a:r>
              <a:rPr lang="en-US" dirty="0">
                <a:solidFill>
                  <a:srgbClr val="B0BEC5"/>
                </a:solidFill>
                <a:latin typeface="Calibri"/>
              </a:rPr>
              <a:t>results by genre, actor, director, and IMDb rating range for more refined suggestions</a:t>
            </a:r>
            <a:r>
              <a:rPr lang="en-US" dirty="0" smtClean="0">
                <a:solidFill>
                  <a:srgbClr val="B0BEC5"/>
                </a:solidFill>
                <a:latin typeface="Calibri"/>
              </a:rPr>
              <a:t>.</a:t>
            </a:r>
          </a:p>
          <a:p>
            <a:pPr marL="0" indent="0">
              <a:buNone/>
            </a:pPr>
            <a:endParaRPr lang="en-US" dirty="0">
              <a:solidFill>
                <a:srgbClr val="B0BEC5"/>
              </a:solidFill>
              <a:latin typeface="Calibri"/>
            </a:endParaRPr>
          </a:p>
          <a:p>
            <a:r>
              <a:rPr lang="en-IN" b="1" dirty="0">
                <a:solidFill>
                  <a:srgbClr val="FFC017"/>
                </a:solidFill>
                <a:latin typeface="Calibri"/>
              </a:rPr>
              <a:t>Movie Posters &amp; </a:t>
            </a:r>
            <a:r>
              <a:rPr lang="en-IN" b="1" dirty="0" smtClean="0">
                <a:solidFill>
                  <a:srgbClr val="FFC017"/>
                </a:solidFill>
                <a:latin typeface="Calibri"/>
              </a:rPr>
              <a:t>Details : </a:t>
            </a:r>
            <a:r>
              <a:rPr lang="en-US" dirty="0" smtClean="0">
                <a:solidFill>
                  <a:srgbClr val="B0BEC5"/>
                </a:solidFill>
                <a:latin typeface="Calibri"/>
              </a:rPr>
              <a:t>Integrated </a:t>
            </a:r>
            <a:r>
              <a:rPr lang="en-US" dirty="0">
                <a:solidFill>
                  <a:srgbClr val="B0BEC5"/>
                </a:solidFill>
                <a:latin typeface="Calibri"/>
              </a:rPr>
              <a:t>OMDB API fetches movie posters and additional metadata in real-time</a:t>
            </a:r>
            <a:r>
              <a:rPr lang="en-US" dirty="0" smtClean="0">
                <a:solidFill>
                  <a:srgbClr val="B0BEC5"/>
                </a:solidFill>
                <a:latin typeface="Calibri"/>
              </a:rPr>
              <a:t>.</a:t>
            </a:r>
          </a:p>
          <a:p>
            <a:pPr marL="0" indent="0">
              <a:buNone/>
            </a:pPr>
            <a:endParaRPr lang="en-US" dirty="0">
              <a:solidFill>
                <a:srgbClr val="B0BEC5"/>
              </a:solidFill>
              <a:latin typeface="Calibri"/>
            </a:endParaRPr>
          </a:p>
          <a:p>
            <a:r>
              <a:rPr lang="en-IN" b="1" dirty="0" smtClean="0">
                <a:solidFill>
                  <a:srgbClr val="FFC017"/>
                </a:solidFill>
                <a:latin typeface="Calibri"/>
              </a:rPr>
              <a:t>Simple </a:t>
            </a:r>
            <a:r>
              <a:rPr lang="en-IN" b="1" dirty="0">
                <a:solidFill>
                  <a:srgbClr val="FFC017"/>
                </a:solidFill>
                <a:latin typeface="Calibri"/>
              </a:rPr>
              <a:t>Web </a:t>
            </a:r>
            <a:r>
              <a:rPr lang="en-IN" b="1" dirty="0" smtClean="0">
                <a:solidFill>
                  <a:srgbClr val="FFC017"/>
                </a:solidFill>
                <a:latin typeface="Calibri"/>
              </a:rPr>
              <a:t>UI : </a:t>
            </a:r>
            <a:r>
              <a:rPr lang="en-US" dirty="0" smtClean="0">
                <a:solidFill>
                  <a:srgbClr val="B0BEC5"/>
                </a:solidFill>
                <a:latin typeface="Calibri"/>
              </a:rPr>
              <a:t>Built </a:t>
            </a:r>
            <a:r>
              <a:rPr lang="en-US" dirty="0">
                <a:solidFill>
                  <a:srgbClr val="B0BEC5"/>
                </a:solidFill>
                <a:latin typeface="Calibri"/>
              </a:rPr>
              <a:t>with </a:t>
            </a:r>
            <a:r>
              <a:rPr lang="en-US" dirty="0" err="1">
                <a:solidFill>
                  <a:srgbClr val="B0BEC5"/>
                </a:solidFill>
                <a:latin typeface="Calibri"/>
              </a:rPr>
              <a:t>Streamlit</a:t>
            </a:r>
            <a:r>
              <a:rPr lang="en-US" dirty="0">
                <a:solidFill>
                  <a:srgbClr val="B0BEC5"/>
                </a:solidFill>
                <a:latin typeface="Calibri"/>
              </a:rPr>
              <a:t> for a clean, responsive, and easy-to-use web interface</a:t>
            </a:r>
            <a:r>
              <a:rPr lang="en-US" dirty="0" smtClean="0">
                <a:solidFill>
                  <a:srgbClr val="B0BEC5"/>
                </a:solidFill>
                <a:latin typeface="Calibri"/>
              </a:rPr>
              <a:t>.</a:t>
            </a:r>
          </a:p>
          <a:p>
            <a:endParaRPr lang="en-US" dirty="0">
              <a:solidFill>
                <a:srgbClr val="B0BEC5"/>
              </a:solidFill>
              <a:latin typeface="Calibri"/>
            </a:endParaRPr>
          </a:p>
          <a:p>
            <a:r>
              <a:rPr lang="en-IN" b="1" dirty="0">
                <a:solidFill>
                  <a:srgbClr val="FFC017"/>
                </a:solidFill>
                <a:latin typeface="Calibri"/>
              </a:rPr>
              <a:t>Regional </a:t>
            </a:r>
            <a:r>
              <a:rPr lang="en-IN" b="1" dirty="0" smtClean="0">
                <a:solidFill>
                  <a:srgbClr val="FFC017"/>
                </a:solidFill>
                <a:latin typeface="Calibri"/>
              </a:rPr>
              <a:t>Coverage : </a:t>
            </a:r>
            <a:r>
              <a:rPr lang="en-US" dirty="0" smtClean="0">
                <a:solidFill>
                  <a:srgbClr val="B0BEC5"/>
                </a:solidFill>
                <a:latin typeface="Calibri"/>
              </a:rPr>
              <a:t>Covers </a:t>
            </a:r>
            <a:r>
              <a:rPr lang="en-US" dirty="0">
                <a:solidFill>
                  <a:srgbClr val="B0BEC5"/>
                </a:solidFill>
                <a:latin typeface="Calibri"/>
              </a:rPr>
              <a:t>both Bollywood and regional Indian films for wide cultural representation.</a:t>
            </a:r>
          </a:p>
          <a:p>
            <a:pPr marL="0" indent="0">
              <a:buNone/>
            </a:pPr>
            <a:endParaRPr lang="en-IN" b="1" dirty="0" smtClean="0">
              <a:solidFill>
                <a:srgbClr val="FFC017"/>
              </a:solidFill>
              <a:latin typeface="Calibri"/>
            </a:endParaRPr>
          </a:p>
          <a:p>
            <a:endParaRPr lang="en-IN" dirty="0">
              <a:solidFill>
                <a:srgbClr val="FFFFFF"/>
              </a:solidFill>
              <a:latin typeface="Calibri"/>
            </a:endParaRPr>
          </a:p>
          <a:p>
            <a:endParaRPr lang="en-IN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22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16693"/>
            <a:ext cx="7781798" cy="510746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FFFFFF"/>
                </a:solidFill>
                <a:latin typeface="Calibri"/>
              </a:rPr>
              <a:t>Technologies Used</a:t>
            </a:r>
            <a:endParaRPr lang="en-US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10289058" y="7257533"/>
            <a:ext cx="420131" cy="4571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542" y="1364459"/>
            <a:ext cx="1994799" cy="193384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033" y="1810334"/>
            <a:ext cx="1753431" cy="133218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858" y="2179200"/>
            <a:ext cx="1724156" cy="13383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3648" y="1578708"/>
            <a:ext cx="2456736" cy="12009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082" y="5327733"/>
            <a:ext cx="2114487" cy="113788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61" y="3620224"/>
            <a:ext cx="2903071" cy="122980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5591" y="3298306"/>
            <a:ext cx="1680070" cy="160277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324" y="4099695"/>
            <a:ext cx="2587512" cy="164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IN" dirty="0">
                <a:solidFill>
                  <a:srgbClr val="FFFFFF"/>
                </a:solidFill>
                <a:latin typeface="Calibri"/>
              </a:rPr>
              <a:t>How It Works</a:t>
            </a:r>
            <a:endParaRPr lang="en-IN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078456"/>
            <a:ext cx="9803370" cy="5075209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63B7C6"/>
                </a:solidFill>
                <a:latin typeface="Calibri"/>
              </a:rPr>
              <a:t>1.</a:t>
            </a:r>
            <a:r>
              <a:rPr lang="en-US" b="1" dirty="0" smtClean="0">
                <a:solidFill>
                  <a:srgbClr val="FFC017"/>
                </a:solidFill>
                <a:latin typeface="Calibri"/>
              </a:rPr>
              <a:t>   Data Processing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C017"/>
                </a:solidFill>
                <a:latin typeface="Calibri"/>
              </a:rPr>
              <a:t> </a:t>
            </a:r>
            <a:r>
              <a:rPr lang="en-US" b="1" dirty="0" smtClean="0">
                <a:solidFill>
                  <a:srgbClr val="FFC017"/>
                </a:solidFill>
                <a:latin typeface="Calibri"/>
              </a:rPr>
              <a:t>    </a:t>
            </a:r>
            <a:r>
              <a:rPr lang="en-US" dirty="0" smtClean="0"/>
              <a:t>Movie </a:t>
            </a:r>
            <a:r>
              <a:rPr lang="en-US" dirty="0"/>
              <a:t>features (genre, director, actors) are combined into unified text strings per </a:t>
            </a:r>
            <a:r>
              <a:rPr lang="en-US" dirty="0" smtClean="0"/>
              <a:t>movie.</a:t>
            </a:r>
          </a:p>
          <a:p>
            <a:pPr marL="0" indent="0">
              <a:buNone/>
            </a:pPr>
            <a:endParaRPr lang="en-US" b="1" dirty="0" smtClean="0">
              <a:solidFill>
                <a:srgbClr val="FFC017"/>
              </a:solidFill>
              <a:latin typeface="Calibri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63B7C6"/>
                </a:solidFill>
                <a:latin typeface="Calibri"/>
              </a:rPr>
              <a:t>2.</a:t>
            </a:r>
            <a:r>
              <a:rPr lang="en-US" b="1" dirty="0" smtClean="0">
                <a:solidFill>
                  <a:srgbClr val="FFC017"/>
                </a:solidFill>
                <a:latin typeface="Calibri"/>
              </a:rPr>
              <a:t>   TF-IDF Vectorization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C017"/>
                </a:solidFill>
                <a:latin typeface="Calibri"/>
              </a:rPr>
              <a:t>     </a:t>
            </a:r>
            <a:r>
              <a:rPr lang="en-US" dirty="0" smtClean="0"/>
              <a:t>Text </a:t>
            </a:r>
            <a:r>
              <a:rPr lang="en-US" dirty="0"/>
              <a:t>strings are converted into numerical vectors using Term Frequency-Inverse Document Frequency</a:t>
            </a:r>
            <a:r>
              <a:rPr lang="en-US" dirty="0" smtClean="0"/>
              <a:t>.</a:t>
            </a:r>
            <a:endParaRPr lang="en-US" b="1" dirty="0" smtClean="0">
              <a:solidFill>
                <a:srgbClr val="FFC017"/>
              </a:solidFill>
              <a:latin typeface="Calibri"/>
            </a:endParaRPr>
          </a:p>
          <a:p>
            <a:pPr marL="0" indent="0">
              <a:buNone/>
            </a:pPr>
            <a:endParaRPr lang="en-US" b="1" dirty="0">
              <a:solidFill>
                <a:srgbClr val="FFC017"/>
              </a:solidFill>
              <a:latin typeface="Calibri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63B7C6"/>
                </a:solidFill>
                <a:latin typeface="Calibri"/>
              </a:rPr>
              <a:t>3.</a:t>
            </a:r>
            <a:r>
              <a:rPr lang="en-US" b="1" dirty="0" smtClean="0">
                <a:solidFill>
                  <a:srgbClr val="FFC017"/>
                </a:solidFill>
                <a:latin typeface="Calibri"/>
              </a:rPr>
              <a:t>   Cosine Similarity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C017"/>
                </a:solidFill>
                <a:latin typeface="Calibri"/>
              </a:rPr>
              <a:t> </a:t>
            </a:r>
            <a:r>
              <a:rPr lang="en-US" b="1" dirty="0" smtClean="0">
                <a:solidFill>
                  <a:srgbClr val="FFC017"/>
                </a:solidFill>
                <a:latin typeface="Calibri"/>
              </a:rPr>
              <a:t>    </a:t>
            </a:r>
            <a:r>
              <a:rPr lang="en-US" dirty="0" smtClean="0"/>
              <a:t>The </a:t>
            </a:r>
            <a:r>
              <a:rPr lang="en-US" dirty="0"/>
              <a:t>angle between feature vectors is measured to find movies closest in content to the selected </a:t>
            </a:r>
            <a:r>
              <a:rPr lang="en-US" dirty="0" smtClean="0"/>
              <a:t>film.</a:t>
            </a:r>
          </a:p>
          <a:p>
            <a:pPr marL="0" indent="0">
              <a:buNone/>
            </a:pPr>
            <a:endParaRPr lang="en-US" b="1" dirty="0" smtClean="0">
              <a:solidFill>
                <a:srgbClr val="FFC017"/>
              </a:solidFill>
              <a:latin typeface="Calibri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63B7C6"/>
                </a:solidFill>
                <a:latin typeface="Calibri"/>
              </a:rPr>
              <a:t>4.</a:t>
            </a:r>
            <a:r>
              <a:rPr lang="en-US" b="1" dirty="0" smtClean="0">
                <a:solidFill>
                  <a:srgbClr val="FFC017"/>
                </a:solidFill>
                <a:latin typeface="Calibri"/>
              </a:rPr>
              <a:t>   Recommendation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C017"/>
                </a:solidFill>
                <a:latin typeface="Calibri"/>
              </a:rPr>
              <a:t> </a:t>
            </a:r>
            <a:r>
              <a:rPr lang="en-US" b="1" dirty="0" smtClean="0">
                <a:solidFill>
                  <a:srgbClr val="FFC017"/>
                </a:solidFill>
                <a:latin typeface="Calibri"/>
              </a:rPr>
              <a:t>    </a:t>
            </a:r>
            <a:r>
              <a:rPr lang="en-US" dirty="0" smtClean="0"/>
              <a:t>Top </a:t>
            </a:r>
            <a:r>
              <a:rPr lang="en-US" dirty="0"/>
              <a:t>100 similar movies are retrieved, then filtered by user preferences (genre, actor, rating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endParaRPr lang="en-US" b="1" dirty="0">
              <a:solidFill>
                <a:srgbClr val="FFC017"/>
              </a:solidFill>
              <a:latin typeface="Calibri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63B7C6"/>
                </a:solidFill>
                <a:latin typeface="Calibri"/>
              </a:rPr>
              <a:t>5.</a:t>
            </a:r>
            <a:r>
              <a:rPr lang="en-US" b="1" dirty="0" smtClean="0">
                <a:solidFill>
                  <a:srgbClr val="FFC017"/>
                </a:solidFill>
                <a:latin typeface="Calibri"/>
              </a:rPr>
              <a:t>   API Integration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C017"/>
                </a:solidFill>
                <a:latin typeface="Calibri"/>
              </a:rPr>
              <a:t> </a:t>
            </a:r>
            <a:r>
              <a:rPr lang="en-US" b="1" dirty="0" smtClean="0">
                <a:solidFill>
                  <a:srgbClr val="FFC017"/>
                </a:solidFill>
                <a:latin typeface="Calibri"/>
              </a:rPr>
              <a:t>    </a:t>
            </a:r>
            <a:r>
              <a:rPr lang="en-US" dirty="0" smtClean="0"/>
              <a:t>OMDB </a:t>
            </a:r>
            <a:r>
              <a:rPr lang="en-US" dirty="0"/>
              <a:t>API fetches real-time movie posters and additional metadata for each recommendation.</a:t>
            </a:r>
            <a:endParaRPr lang="en-IN" dirty="0"/>
          </a:p>
          <a:p>
            <a:endParaRPr lang="en-IN" dirty="0">
              <a:solidFill>
                <a:srgbClr val="FFFFFF"/>
              </a:solidFill>
              <a:latin typeface="Calibri"/>
            </a:endParaRPr>
          </a:p>
          <a:p>
            <a:endParaRPr lang="en-IN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48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Structure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443367" y="1444649"/>
            <a:ext cx="5158364" cy="4330075"/>
          </a:xfrm>
        </p:spPr>
        <p:txBody>
          <a:bodyPr>
            <a:normAutofit/>
          </a:bodyPr>
          <a:lstStyle/>
          <a:p>
            <a:endParaRPr lang="en-IN" dirty="0"/>
          </a:p>
          <a:p>
            <a:r>
              <a:rPr lang="en-IN" dirty="0" smtClean="0"/>
              <a:t>IMRS</a:t>
            </a:r>
            <a:r>
              <a:rPr lang="en-IN" dirty="0"/>
              <a:t>/</a:t>
            </a:r>
          </a:p>
          <a:p>
            <a:r>
              <a:rPr lang="en-IN" dirty="0"/>
              <a:t>├── app.py                 # Main </a:t>
            </a:r>
            <a:r>
              <a:rPr lang="en-IN" dirty="0" err="1"/>
              <a:t>Streamlit</a:t>
            </a:r>
            <a:r>
              <a:rPr lang="en-IN" dirty="0"/>
              <a:t> application</a:t>
            </a:r>
          </a:p>
          <a:p>
            <a:r>
              <a:rPr lang="en-IN" dirty="0"/>
              <a:t>├── cleanData.csv         # Cleaned movie dataset</a:t>
            </a:r>
          </a:p>
          <a:p>
            <a:r>
              <a:rPr lang="en-IN" dirty="0"/>
              <a:t>├── requirements.txt      # Python dependencies</a:t>
            </a:r>
          </a:p>
          <a:p>
            <a:r>
              <a:rPr lang="en-IN" dirty="0"/>
              <a:t>├── README.md            # Project documentation</a:t>
            </a:r>
          </a:p>
          <a:p>
            <a:r>
              <a:rPr lang="en-IN" dirty="0"/>
              <a:t>└── data cleaning method/</a:t>
            </a:r>
          </a:p>
          <a:p>
            <a:r>
              <a:rPr lang="en-IN" dirty="0"/>
              <a:t>    ├── dataCleaning.py      # Data cleaning script</a:t>
            </a:r>
          </a:p>
          <a:p>
            <a:r>
              <a:rPr lang="en-IN" dirty="0"/>
              <a:t>    └── IMDbRatings_IndianMovies.csv  # Raw dataset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550" y="1444649"/>
            <a:ext cx="5735663" cy="459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49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 smtClean="0">
                <a:solidFill>
                  <a:srgbClr val="FFFFFF"/>
                </a:solidFill>
                <a:latin typeface="Calibri"/>
              </a:rPr>
              <a:t>            Work Flow OR Flowchart</a:t>
            </a:r>
            <a:endParaRPr lang="en-IN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40476"/>
            <a:ext cx="6718300" cy="4250723"/>
          </a:xfrm>
        </p:spPr>
        <p:txBody>
          <a:bodyPr/>
          <a:lstStyle/>
          <a:p>
            <a:pPr marL="0" indent="0">
              <a:buNone/>
            </a:pPr>
            <a:endParaRPr lang="en-IN" b="1" dirty="0" smtClean="0">
              <a:solidFill>
                <a:srgbClr val="FFC017"/>
              </a:solidFill>
              <a:latin typeface="Calibri"/>
            </a:endParaRPr>
          </a:p>
          <a:p>
            <a:endParaRPr lang="en-IN" dirty="0">
              <a:solidFill>
                <a:srgbClr val="FFFFFF"/>
              </a:solidFill>
              <a:latin typeface="Calibri"/>
            </a:endParaRPr>
          </a:p>
          <a:p>
            <a:endParaRPr lang="en-IN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AutoShape 2" descr="Generated image: Data processing and recommendation flowch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750" y="1278480"/>
            <a:ext cx="4543168" cy="521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84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0"/>
            <a:ext cx="6862037" cy="1087395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FFFF"/>
                </a:solidFill>
                <a:latin typeface="Calibri"/>
              </a:rPr>
              <a:t>Application Interface</a:t>
            </a:r>
            <a:endParaRPr lang="en-IN" sz="32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V="1">
            <a:off x="3847070" y="7257534"/>
            <a:ext cx="3787916" cy="4571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500" y="889686"/>
            <a:ext cx="7282890" cy="53216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1849" y="1532238"/>
            <a:ext cx="33282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rgbClr val="FFC000"/>
                </a:solidFill>
              </a:rPr>
              <a:t>How to use</a:t>
            </a:r>
            <a:endParaRPr lang="en-IN" sz="2200" dirty="0">
              <a:solidFill>
                <a:srgbClr val="FFC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49" y="2199503"/>
            <a:ext cx="38884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Select </a:t>
            </a:r>
            <a:r>
              <a:rPr lang="en-US" dirty="0">
                <a:solidFill>
                  <a:schemeClr val="bg1"/>
                </a:solidFill>
              </a:rPr>
              <a:t>a movie you </a:t>
            </a:r>
            <a:r>
              <a:rPr lang="en-US" dirty="0" smtClean="0">
                <a:solidFill>
                  <a:schemeClr val="bg1"/>
                </a:solidFill>
              </a:rPr>
              <a:t>enjoy.</a:t>
            </a:r>
          </a:p>
          <a:p>
            <a:pPr marL="342900" indent="-342900">
              <a:buAutoNum type="arabicPeriod"/>
            </a:pPr>
            <a:endParaRPr lang="en-US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 startAt="2"/>
            </a:pPr>
            <a:r>
              <a:rPr lang="en-US" dirty="0" smtClean="0">
                <a:solidFill>
                  <a:schemeClr val="bg1"/>
                </a:solidFill>
              </a:rPr>
              <a:t>Apply </a:t>
            </a:r>
            <a:r>
              <a:rPr lang="en-US" dirty="0">
                <a:solidFill>
                  <a:schemeClr val="bg1"/>
                </a:solidFill>
              </a:rPr>
              <a:t>optional </a:t>
            </a:r>
            <a:r>
              <a:rPr lang="en-US" dirty="0" smtClean="0">
                <a:solidFill>
                  <a:schemeClr val="bg1"/>
                </a:solidFill>
              </a:rPr>
              <a:t>filters.</a:t>
            </a:r>
          </a:p>
          <a:p>
            <a:pPr marL="342900" indent="-342900">
              <a:buAutoNum type="arabicPeriod" startAt="2"/>
            </a:pPr>
            <a:endParaRPr lang="en-US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 startAt="2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 startAt="3"/>
            </a:pPr>
            <a:r>
              <a:rPr lang="en-US" dirty="0" smtClean="0">
                <a:solidFill>
                  <a:schemeClr val="bg1"/>
                </a:solidFill>
              </a:rPr>
              <a:t>Click “Get Recommendations”.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4.   Browse </a:t>
            </a:r>
            <a:r>
              <a:rPr lang="en-US" dirty="0">
                <a:solidFill>
                  <a:schemeClr val="bg1"/>
                </a:solidFill>
              </a:rPr>
              <a:t>your personalized </a:t>
            </a:r>
            <a:r>
              <a:rPr lang="en-US" dirty="0" smtClean="0">
                <a:solidFill>
                  <a:schemeClr val="bg1"/>
                </a:solidFill>
              </a:rPr>
              <a:t>list.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 And </a:t>
            </a:r>
            <a:r>
              <a:rPr lang="en-US" dirty="0"/>
              <a:t>F</a:t>
            </a:r>
            <a:r>
              <a:rPr lang="en-US" dirty="0" smtClean="0"/>
              <a:t>uture Scope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C000"/>
                </a:solidFill>
              </a:rPr>
              <a:t>Conclusion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87788-476B-4620-8002-A5C1177AD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C000"/>
                </a:solidFill>
              </a:rPr>
              <a:t>Future Scope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2505075"/>
            <a:ext cx="5157787" cy="3684588"/>
          </a:xfrm>
        </p:spPr>
        <p:txBody>
          <a:bodyPr/>
          <a:lstStyle/>
          <a:p>
            <a:r>
              <a:rPr lang="en-US" dirty="0"/>
              <a:t>Content-based ML for accurate, personalized </a:t>
            </a:r>
            <a:r>
              <a:rPr lang="en-US" dirty="0" smtClean="0"/>
              <a:t>recommendations</a:t>
            </a:r>
          </a:p>
          <a:p>
            <a:r>
              <a:rPr lang="en-US" dirty="0" smtClean="0"/>
              <a:t>Covers </a:t>
            </a:r>
            <a:r>
              <a:rPr lang="en-US" dirty="0"/>
              <a:t>Bollywood + regional Indian cinema </a:t>
            </a:r>
            <a:r>
              <a:rPr lang="en-US" dirty="0" smtClean="0"/>
              <a:t>comprehensively</a:t>
            </a:r>
          </a:p>
          <a:p>
            <a:r>
              <a:rPr lang="en-US" dirty="0" smtClean="0"/>
              <a:t>Real-time </a:t>
            </a:r>
            <a:r>
              <a:rPr lang="en-US" dirty="0"/>
              <a:t>OMDB API for movie posters and </a:t>
            </a:r>
            <a:r>
              <a:rPr lang="en-US" dirty="0" smtClean="0"/>
              <a:t>metadata</a:t>
            </a:r>
          </a:p>
          <a:p>
            <a:r>
              <a:rPr lang="en-US" dirty="0" smtClean="0"/>
              <a:t>Advanced </a:t>
            </a:r>
            <a:r>
              <a:rPr lang="en-US" dirty="0"/>
              <a:t>multi-filter search for refined </a:t>
            </a:r>
            <a:r>
              <a:rPr lang="en-US" dirty="0" smtClean="0"/>
              <a:t>results</a:t>
            </a:r>
          </a:p>
          <a:p>
            <a:r>
              <a:rPr lang="en-US" dirty="0" err="1" smtClean="0"/>
              <a:t>Streamlit</a:t>
            </a:r>
            <a:r>
              <a:rPr lang="en-US" dirty="0" smtClean="0"/>
              <a:t> </a:t>
            </a:r>
            <a:r>
              <a:rPr lang="en-US" dirty="0"/>
              <a:t>UI - no technical knowledge required to </a:t>
            </a:r>
            <a:r>
              <a:rPr lang="en-US" dirty="0" smtClean="0"/>
              <a:t>use</a:t>
            </a:r>
          </a:p>
          <a:p>
            <a:r>
              <a:rPr lang="en-US" dirty="0" smtClean="0"/>
              <a:t>Open </a:t>
            </a:r>
            <a:r>
              <a:rPr lang="en-US" dirty="0"/>
              <a:t>source and easily extensible with new datasets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0A9570-5EF6-4AFB-9FCA-7C8998E3FEB1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/>
        <p:txBody>
          <a:bodyPr/>
          <a:lstStyle/>
          <a:p>
            <a:r>
              <a:rPr lang="en-US" dirty="0"/>
              <a:t>Collaborative filtering with user </a:t>
            </a:r>
            <a:r>
              <a:rPr lang="en-US" dirty="0" smtClean="0"/>
              <a:t>data</a:t>
            </a:r>
          </a:p>
          <a:p>
            <a:endParaRPr lang="en-US" dirty="0"/>
          </a:p>
          <a:p>
            <a:r>
              <a:rPr lang="en-US" dirty="0" smtClean="0"/>
              <a:t>Multi-language </a:t>
            </a:r>
            <a:r>
              <a:rPr lang="en-US" dirty="0"/>
              <a:t>regional </a:t>
            </a:r>
            <a:r>
              <a:rPr lang="en-US" dirty="0" smtClean="0"/>
              <a:t>support</a:t>
            </a:r>
          </a:p>
          <a:p>
            <a:endParaRPr lang="en-US" dirty="0" smtClean="0"/>
          </a:p>
          <a:p>
            <a:r>
              <a:rPr lang="en-US" dirty="0" smtClean="0"/>
              <a:t>Mobile </a:t>
            </a:r>
            <a:r>
              <a:rPr lang="en-US" dirty="0"/>
              <a:t>app </a:t>
            </a:r>
            <a:r>
              <a:rPr lang="en-US" dirty="0" smtClean="0"/>
              <a:t>version</a:t>
            </a:r>
          </a:p>
          <a:p>
            <a:endParaRPr lang="en-US" dirty="0" smtClean="0"/>
          </a:p>
          <a:p>
            <a:r>
              <a:rPr lang="en-US" dirty="0" smtClean="0"/>
              <a:t>Deep </a:t>
            </a:r>
            <a:r>
              <a:rPr lang="en-US" dirty="0"/>
              <a:t>learning </a:t>
            </a:r>
            <a:r>
              <a:rPr lang="en-US" dirty="0" err="1" smtClean="0"/>
              <a:t>embeddings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User </a:t>
            </a:r>
            <a:r>
              <a:rPr lang="en-US" dirty="0"/>
              <a:t>ratings &amp; feedback loop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757914-1161-4661-9696-421FD6935CDD}">
  <ds:schemaRefs>
    <ds:schemaRef ds:uri="http://purl.org/dc/dcmitype/"/>
    <ds:schemaRef ds:uri="71af3243-3dd4-4a8d-8c0d-dd76da1f02a5"/>
    <ds:schemaRef ds:uri="http://purl.org/dc/terms/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16c05727-aa75-4e4a-9b5f-8a80a1165891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0</TotalTime>
  <Words>396</Words>
  <Application>Microsoft Office PowerPoint</Application>
  <PresentationFormat>Widescreen</PresentationFormat>
  <Paragraphs>91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Tahoma</vt:lpstr>
      <vt:lpstr>Trade Gothic LT Pro</vt:lpstr>
      <vt:lpstr>Trebuchet MS</vt:lpstr>
      <vt:lpstr>Office Theme</vt:lpstr>
      <vt:lpstr>IMRS-Movie recommendation system </vt:lpstr>
      <vt:lpstr>Project Overview</vt:lpstr>
      <vt:lpstr>Key Features</vt:lpstr>
      <vt:lpstr>Technologies Used</vt:lpstr>
      <vt:lpstr>How It Works</vt:lpstr>
      <vt:lpstr>Project Structure</vt:lpstr>
      <vt:lpstr>            Work Flow OR Flowchart</vt:lpstr>
      <vt:lpstr>Application Interface</vt:lpstr>
      <vt:lpstr>Conclusion And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2026-05-04T03:44:06Z</dcterms:created>
  <dcterms:modified xsi:type="dcterms:W3CDTF">2026-05-04T08:09:54Z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